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3" r:id="rId18"/>
    <p:sldId id="272" r:id="rId19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6DCF8"/>
    <a:srgbClr val="CCD2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Style moyen 4 - Accentuation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56F4E8-E35B-4816-B12F-2B444ACF091E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80985D-FE69-4D8D-ABDD-46516B9F420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00602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0985D-FE69-4D8D-ABDD-46516B9F420D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716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0985D-FE69-4D8D-ABDD-46516B9F420D}" type="slidenum">
              <a:rPr lang="fr-FR" smtClean="0"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3036593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14FD6E-785F-64D3-4BE6-82250599E7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5958F0B-1FF3-557B-2588-DB6FF964B41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2B92161A-D9C3-5F54-FC5E-86521159C3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6DE2DA77-AF18-378E-0402-DD0EFBDC0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0985D-FE69-4D8D-ABDD-46516B9F420D}" type="slidenum">
              <a:rPr lang="fr-FR" smtClean="0"/>
              <a:t>15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962043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8FDA81-33E1-156B-5781-8E9B4AFE0D9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D644A3-7E04-3C0C-3A37-F0A7AB77587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E379F12-1673-4611-AD83-6A9EAD0FBE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1D1065A-A041-06EE-5AD0-361D0404D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6EDA49C7-C241-1CC8-4364-AC03701F21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278280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2A6137C-8D6A-E853-E8F8-0C94B1246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0D88510-0962-3629-F8CA-6B4F7607DB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6A755A6C-2851-1F4C-4F40-70D71B941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5C8E51-EF5A-9B87-1B5E-C0A0D0DE6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A4BF66-59DF-AE7C-5D21-B4F1D0FD4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7681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B3D8B9-13AA-E984-34E5-3F5E773D6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39B74012-B23D-83FD-78CB-442922A6F2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36453C-7DC6-5C9A-7D6D-2EC481AB1A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7E7CFEE-BCFD-35E9-E49B-AE83802503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43EF144-8282-9AD7-0C8B-A395797890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1765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4D486D1-4B3F-E44E-2615-92E14A481F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34BAF2C-F0E2-2C7A-6158-766E68D2E4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BA0E832-51FE-C314-056C-D3A93FB6DE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C24E617-2244-6D07-1CED-219A9E5C4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C74FB59-DD89-3103-F28B-9D64554143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6CA2A20A-730C-24F9-404F-D33D696A4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9158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0C522A6-70A6-0DE2-2D86-5846E18F03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4CF9ACD-D3D7-BAC1-866B-776C120A3D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5646E5BD-2DF9-705D-A1F3-FBEFDC64C4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BA759D60-EA97-5487-E0BE-3B538F6667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FB9C83BA-B5A9-F76D-B306-E353D9A99EF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596BC28-46F6-7A48-E409-3BF118932A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9DCE21C-9841-43B2-66A3-9C6C2EEF5A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4E2A6959-8253-3935-7554-CE2FC2D7E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2355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7D1881-05CA-E70F-097B-A83F4F8B9C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CAAA973-834D-4988-067A-79AC86CD5B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E2A873E1-23B4-2B20-D6A5-E04FFD7B1C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1F185F76-4696-F8B2-5B1E-17D8A598E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74154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E8315AE6-4FAD-CCD6-4A42-956322321D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4C5FB518-5FC9-1672-9037-DC5DB7D0F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54FA4F44-A06B-8A2B-0916-48CC0C57D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99681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D4E528-7FC0-A28F-7CD6-31D89CF6C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CDBA112-A31F-CFF8-AC4F-CA379CDC8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2492289-0383-5DCC-D424-40E3A49B63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E0675EA5-7017-72A3-6698-9C00C47F2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D1B6D0A2-66A9-AEE0-AD96-B0B8B8BB2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0FDF3FD-E38C-AEA6-36C7-D115DF443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21485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77397A-0AA0-6C21-D5E0-F6BD3EC68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5A48A2C-5F93-8052-4D92-A95AD9762E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44F6236A-3CDF-F7B8-CACE-3A3E97A2686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10ECBF1D-4C80-03A5-E0F8-86A34D749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5AE11F36-7CE1-C4FA-60CD-B1867683C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C75212E2-23E0-6E89-A34A-8FFC4DB471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23178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C908F5-40D8-708D-4428-57630493D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AA648E02-FE59-2AC7-05E1-F28E55F60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0CA7782-E397-DE0A-45B8-AADE737D0F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73AC139-8DF3-575A-8257-B8710C9407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C8BD92C8-210E-791F-800C-EF55578B9F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9823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43CE36D-719A-BEA4-5297-2C3A5DA6BC5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98D0F284-DC89-917E-57DF-6CA69FB002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A1E9FED2-1F6F-B391-42D1-74A379654E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4C0544B-6B11-D101-4E93-3BDF1EA952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6173577-1745-0FF4-CE51-B82766677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65817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04A0B57D-CF50-D984-9FA4-309C74DDE5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8BF4062-AE41-36C4-95F9-7FC6B0C525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DC2FCAA9-E632-3608-CCFA-3B7808D21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766566-3E4A-41AF-BF5B-69B208E24716}" type="datetimeFigureOut">
              <a:rPr lang="fr-FR" smtClean="0"/>
              <a:t>15/05/2025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0A003D6-4472-D5FE-EC30-9018D4EA60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ECBECEF-B0EF-CAC4-3F13-9AFF49D1A6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8A64E2D-3FCB-4772-A05E-7757834A2A4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087619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11E75AA-03DD-B84F-3F8C-12717F044D1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fr-FR" dirty="0"/>
              <a:t>TIPE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8B9E77D5-91DF-EAB8-7441-A53D67B155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 dirty="0"/>
              <a:t>Organisation d’un supermarché pour optimiser les revenus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8FC38C35-0AC8-465D-6E05-B645B9832FE6}"/>
              </a:ext>
            </a:extLst>
          </p:cNvPr>
          <p:cNvSpPr txBox="1"/>
          <p:nvPr/>
        </p:nvSpPr>
        <p:spPr>
          <a:xfrm>
            <a:off x="10923639" y="6243482"/>
            <a:ext cx="117003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2800" dirty="0"/>
              <a:t>25297</a:t>
            </a:r>
          </a:p>
        </p:txBody>
      </p:sp>
    </p:spTree>
    <p:extLst>
      <p:ext uri="{BB962C8B-B14F-4D97-AF65-F5344CB8AC3E}">
        <p14:creationId xmlns:p14="http://schemas.microsoft.com/office/powerpoint/2010/main" val="251343914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CD3F1FF-49C4-A4D9-097D-820D68720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1. Modélisation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55F4152-C6D4-959E-9CD3-A3983B3FDF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Le supermarché</a:t>
            </a:r>
          </a:p>
          <a:p>
            <a:pPr marL="0" indent="0">
              <a:buNone/>
            </a:pPr>
            <a:endParaRPr lang="fr-FR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Matrice 4*4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Entrée</a:t>
            </a:r>
            <a:r>
              <a:rPr lang="fr-FR" sz="1000" dirty="0"/>
              <a:t> </a:t>
            </a:r>
            <a:r>
              <a:rPr lang="fr-FR" sz="1600" dirty="0"/>
              <a:t>en (0,0)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1 case = 1 rayon</a:t>
            </a:r>
            <a:endParaRPr lang="fr-FR" sz="1000" dirty="0"/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3B36B93-DE28-2B71-9688-E0BE316FE6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4393446"/>
              </p:ext>
            </p:extLst>
          </p:nvPr>
        </p:nvGraphicFramePr>
        <p:xfrm>
          <a:off x="5601109" y="1395720"/>
          <a:ext cx="4320000" cy="43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108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1080000"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4A8DBAC7-63E9-5BB9-9A39-4BA9578843DC}"/>
              </a:ext>
            </a:extLst>
          </p:cNvPr>
          <p:cNvCxnSpPr>
            <a:cxnSpLocks/>
          </p:cNvCxnSpPr>
          <p:nvPr/>
        </p:nvCxnSpPr>
        <p:spPr>
          <a:xfrm>
            <a:off x="5601109" y="1395720"/>
            <a:ext cx="1074994" cy="108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E9BF5144-CC13-7686-F22C-EA455347F0FC}"/>
              </a:ext>
            </a:extLst>
          </p:cNvPr>
          <p:cNvCxnSpPr>
            <a:cxnSpLocks/>
          </p:cNvCxnSpPr>
          <p:nvPr/>
        </p:nvCxnSpPr>
        <p:spPr>
          <a:xfrm flipH="1">
            <a:off x="5601109" y="1395720"/>
            <a:ext cx="1074994" cy="1082009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421380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11718E-A951-1449-8998-3396FC29D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426110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Modélisation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D767E44-21E4-66EB-9539-CCAF2D9369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/>
          <a:lstStyle/>
          <a:p>
            <a:r>
              <a:rPr lang="fr-FR" dirty="0"/>
              <a:t>Les rayons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Un rayon = un indice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Dans une liste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4CDF5041-6CB7-16AE-7F61-D96C9560518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210828"/>
              </p:ext>
            </p:extLst>
          </p:nvPr>
        </p:nvGraphicFramePr>
        <p:xfrm>
          <a:off x="838200" y="2687320"/>
          <a:ext cx="10515603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72898873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5305164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95815539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635112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5926724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85076968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35014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Fruits et Légumes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Crèmerie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Produits laitiers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Boulangerie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Boucherie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Epicerie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Condiment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81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166309"/>
                  </a:ext>
                </a:extLst>
              </a:tr>
            </a:tbl>
          </a:graphicData>
        </a:graphic>
      </p:graphicFrame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133561B9-4F2F-0056-6680-72221D672F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9125181"/>
              </p:ext>
            </p:extLst>
          </p:nvPr>
        </p:nvGraphicFramePr>
        <p:xfrm>
          <a:off x="838197" y="4042878"/>
          <a:ext cx="10515603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2229">
                  <a:extLst>
                    <a:ext uri="{9D8B030D-6E8A-4147-A177-3AD203B41FA5}">
                      <a16:colId xmlns:a16="http://schemas.microsoft.com/office/drawing/2014/main" val="2728988731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53051647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958155392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635112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75926724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285076968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9350148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Boisson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Petit-déjeuner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Conserves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Produits d’hygiène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Produits ménagers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Epicerie sucré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Biscuits salés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081515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18166309"/>
                  </a:ext>
                </a:extLst>
              </a:tr>
            </a:tbl>
          </a:graphicData>
        </a:graphic>
      </p:graphicFrame>
      <p:graphicFrame>
        <p:nvGraphicFramePr>
          <p:cNvPr id="7" name="Tableau 6">
            <a:extLst>
              <a:ext uri="{FF2B5EF4-FFF2-40B4-BE49-F238E27FC236}">
                <a16:creationId xmlns:a16="http://schemas.microsoft.com/office/drawing/2014/main" id="{29F37010-7346-FB7F-8670-37773040BB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810696"/>
              </p:ext>
            </p:extLst>
          </p:nvPr>
        </p:nvGraphicFramePr>
        <p:xfrm>
          <a:off x="838197" y="5398436"/>
          <a:ext cx="1501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200">
                  <a:extLst>
                    <a:ext uri="{9D8B030D-6E8A-4147-A177-3AD203B41FA5}">
                      <a16:colId xmlns:a16="http://schemas.microsoft.com/office/drawing/2014/main" val="166636892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Surgelés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0754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167682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06731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DEFFC-CDD2-DB44-862F-C2832D7777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9BD0090-85C2-BF18-F326-D45311E972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426110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Modélisation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C0CA0FD4-6C2A-B29E-9FF4-FD79135250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/>
          <a:lstStyle/>
          <a:p>
            <a:r>
              <a:rPr lang="fr-FR" dirty="0"/>
              <a:t>Exemple</a:t>
            </a:r>
            <a:endParaRPr lang="fr-FR" sz="1600" dirty="0"/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24A22FF9-8AD8-E3BA-B93A-E28F9DC199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832715"/>
              </p:ext>
            </p:extLst>
          </p:nvPr>
        </p:nvGraphicFramePr>
        <p:xfrm>
          <a:off x="565784" y="1452874"/>
          <a:ext cx="504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1260000">
                <a:tc>
                  <a:txBody>
                    <a:bodyPr/>
                    <a:lstStyle/>
                    <a:p>
                      <a:endParaRPr lang="fr-FR" sz="28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8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97805988-D863-9D68-5D3C-574C498077D4}"/>
              </a:ext>
            </a:extLst>
          </p:cNvPr>
          <p:cNvCxnSpPr>
            <a:cxnSpLocks/>
          </p:cNvCxnSpPr>
          <p:nvPr/>
        </p:nvCxnSpPr>
        <p:spPr>
          <a:xfrm>
            <a:off x="560262" y="1452874"/>
            <a:ext cx="1263018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DFEB352A-488A-0272-0280-1124CE9BAE2D}"/>
              </a:ext>
            </a:extLst>
          </p:cNvPr>
          <p:cNvCxnSpPr>
            <a:cxnSpLocks/>
          </p:cNvCxnSpPr>
          <p:nvPr/>
        </p:nvCxnSpPr>
        <p:spPr>
          <a:xfrm flipH="1">
            <a:off x="565783" y="1452874"/>
            <a:ext cx="1257497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51315055-755F-2199-49CB-5A5A4FA5745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3520557"/>
              </p:ext>
            </p:extLst>
          </p:nvPr>
        </p:nvGraphicFramePr>
        <p:xfrm>
          <a:off x="6586217" y="1452874"/>
          <a:ext cx="504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1260000">
                <a:tc>
                  <a:txBody>
                    <a:bodyPr/>
                    <a:lstStyle/>
                    <a:p>
                      <a:endParaRPr lang="fr-FR" sz="15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Surgelés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Epicerie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ménagers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Fruits et Légumes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Boucherie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Petit-déjeuner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Condiment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laitiers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d’hygiène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Conserves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Crémerie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Biscuits salés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Boulangerie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Epicerie sucré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Boissons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9935C3D6-5438-6126-58A0-4D0FCF6068DB}"/>
              </a:ext>
            </a:extLst>
          </p:cNvPr>
          <p:cNvCxnSpPr>
            <a:cxnSpLocks/>
          </p:cNvCxnSpPr>
          <p:nvPr/>
        </p:nvCxnSpPr>
        <p:spPr>
          <a:xfrm>
            <a:off x="6586217" y="1452874"/>
            <a:ext cx="1258372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AB18F6E3-7D76-97D8-9040-890A642F5B21}"/>
              </a:ext>
            </a:extLst>
          </p:cNvPr>
          <p:cNvCxnSpPr>
            <a:cxnSpLocks/>
          </p:cNvCxnSpPr>
          <p:nvPr/>
        </p:nvCxnSpPr>
        <p:spPr>
          <a:xfrm flipH="1">
            <a:off x="6586217" y="1452874"/>
            <a:ext cx="1258372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Est égal à 18">
            <a:extLst>
              <a:ext uri="{FF2B5EF4-FFF2-40B4-BE49-F238E27FC236}">
                <a16:creationId xmlns:a16="http://schemas.microsoft.com/office/drawing/2014/main" id="{8A4A67BA-070B-3B94-D02A-DD090EB9A055}"/>
              </a:ext>
            </a:extLst>
          </p:cNvPr>
          <p:cNvSpPr/>
          <p:nvPr/>
        </p:nvSpPr>
        <p:spPr>
          <a:xfrm>
            <a:off x="5550569" y="3664602"/>
            <a:ext cx="1090863" cy="616543"/>
          </a:xfrm>
          <a:prstGeom prst="mathEqual">
            <a:avLst/>
          </a:prstGeom>
          <a:solidFill>
            <a:schemeClr val="accent1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9426778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579B1D-DA2C-12ED-BE49-60981BCF1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AA93061-CFD2-A2D6-CB4B-4ED60D020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2426110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Modélisation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707FF9D-B283-B77F-85A8-B01D39D1C85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/>
          <a:lstStyle/>
          <a:p>
            <a:r>
              <a:rPr lang="fr-FR" dirty="0"/>
              <a:t>Les produits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Liste de produit pour chaque rayon dans un dictionnaire</a:t>
            </a:r>
          </a:p>
          <a:p>
            <a:pPr marL="457200" lvl="1" indent="0">
              <a:buNone/>
            </a:pPr>
            <a:r>
              <a:rPr lang="fr-FR" sz="1600" dirty="0"/>
              <a:t>	Exemple :</a:t>
            </a:r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Chaque produit a un pourcentage de chance, pondération, d’être dans une liste de course  (stocké dans un fichier)</a:t>
            </a:r>
            <a:endParaRPr lang="fr-FR" sz="1200" dirty="0"/>
          </a:p>
          <a:p>
            <a:pPr marL="457200" lvl="1" indent="0">
              <a:buNone/>
            </a:pPr>
            <a:r>
              <a:rPr lang="fr-FR" sz="1600" dirty="0"/>
              <a:t>	Exemple : 	60% de chance d’avoir des pâtes dans la liste de course</a:t>
            </a:r>
          </a:p>
          <a:p>
            <a:pPr marL="457200" lvl="1" indent="0">
              <a:buNone/>
            </a:pPr>
            <a:endParaRPr lang="fr-FR" sz="16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Chaque produit a un prix moyen calculer selon les prix du marché (stocké dans un fichier)</a:t>
            </a:r>
          </a:p>
          <a:p>
            <a:pPr marL="914400" lvl="2" indent="0">
              <a:buNone/>
            </a:pPr>
            <a:r>
              <a:rPr lang="fr-FR" sz="1600" dirty="0"/>
              <a:t>Exemple : le prix moyen du chocolat est de 2€</a:t>
            </a:r>
          </a:p>
        </p:txBody>
      </p:sp>
      <p:graphicFrame>
        <p:nvGraphicFramePr>
          <p:cNvPr id="8" name="Tableau 7">
            <a:extLst>
              <a:ext uri="{FF2B5EF4-FFF2-40B4-BE49-F238E27FC236}">
                <a16:creationId xmlns:a16="http://schemas.microsoft.com/office/drawing/2014/main" id="{3A2C9363-A062-6A12-81A3-998B6D91187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5392"/>
              </p:ext>
            </p:extLst>
          </p:nvPr>
        </p:nvGraphicFramePr>
        <p:xfrm>
          <a:off x="3483078" y="2197356"/>
          <a:ext cx="4503600" cy="101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1200">
                  <a:extLst>
                    <a:ext uri="{9D8B030D-6E8A-4147-A177-3AD203B41FA5}">
                      <a16:colId xmlns:a16="http://schemas.microsoft.com/office/drawing/2014/main" val="2231027282"/>
                    </a:ext>
                  </a:extLst>
                </a:gridCol>
                <a:gridCol w="1501200">
                  <a:extLst>
                    <a:ext uri="{9D8B030D-6E8A-4147-A177-3AD203B41FA5}">
                      <a16:colId xmlns:a16="http://schemas.microsoft.com/office/drawing/2014/main" val="1493181055"/>
                    </a:ext>
                  </a:extLst>
                </a:gridCol>
                <a:gridCol w="1501200">
                  <a:extLst>
                    <a:ext uri="{9D8B030D-6E8A-4147-A177-3AD203B41FA5}">
                      <a16:colId xmlns:a16="http://schemas.microsoft.com/office/drawing/2014/main" val="3540236700"/>
                    </a:ext>
                  </a:extLst>
                </a:gridCol>
              </a:tblGrid>
              <a:tr h="370840">
                <a:tc gridSpan="3">
                  <a:txBody>
                    <a:bodyPr/>
                    <a:lstStyle/>
                    <a:p>
                      <a:r>
                        <a:rPr lang="fr-FR" dirty="0"/>
                        <a:t>Produits d’hygiène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42689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Papier toilette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Savon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Dentifrice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800139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120670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8D4498-FFC8-83E0-B2D0-80E8E2D7B9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2. Organisation des supermarchés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4A0F15B-BD4B-1CFA-587A-C9622F213F6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AutoNum type="romanUcPeriod"/>
            </a:pPr>
            <a:r>
              <a:rPr lang="fr-FR" sz="2000" u="sng" dirty="0"/>
              <a:t>Organisation aléatoire</a:t>
            </a:r>
          </a:p>
          <a:p>
            <a:pPr marL="457200" lvl="1" indent="0">
              <a:buNone/>
            </a:pPr>
            <a:endParaRPr lang="fr-FR" u="sng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600" dirty="0"/>
              <a:t>Mélange</a:t>
            </a:r>
            <a:r>
              <a:rPr lang="fr-FR" sz="1800" dirty="0"/>
              <a:t> de </a:t>
            </a:r>
            <a:r>
              <a:rPr lang="fr-FR" sz="1800" dirty="0" err="1"/>
              <a:t>Knuth</a:t>
            </a:r>
            <a:r>
              <a:rPr lang="fr-FR" sz="1800" dirty="0"/>
              <a:t>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5F0735E5-EE42-68BD-4409-59A16AE713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53825345"/>
              </p:ext>
            </p:extLst>
          </p:nvPr>
        </p:nvGraphicFramePr>
        <p:xfrm>
          <a:off x="838200" y="3773693"/>
          <a:ext cx="4447456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932">
                  <a:extLst>
                    <a:ext uri="{9D8B030D-6E8A-4147-A177-3AD203B41FA5}">
                      <a16:colId xmlns:a16="http://schemas.microsoft.com/office/drawing/2014/main" val="2334832925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3046708671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460747189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1240262975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1896189205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2600699227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2362683028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2765302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65431"/>
                  </a:ext>
                </a:extLst>
              </a:tr>
            </a:tbl>
          </a:graphicData>
        </a:graphic>
      </p:graphicFrame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499806D3-CE1F-299F-AEE5-D8B34F8B25C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24518492"/>
              </p:ext>
            </p:extLst>
          </p:nvPr>
        </p:nvGraphicFramePr>
        <p:xfrm>
          <a:off x="8018636" y="2705793"/>
          <a:ext cx="3240000" cy="323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809806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29CA9288-9DB1-D816-3B3B-6F684CA09E80}"/>
              </a:ext>
            </a:extLst>
          </p:cNvPr>
          <p:cNvCxnSpPr>
            <a:cxnSpLocks/>
          </p:cNvCxnSpPr>
          <p:nvPr/>
        </p:nvCxnSpPr>
        <p:spPr>
          <a:xfrm>
            <a:off x="8018636" y="2705793"/>
            <a:ext cx="810732" cy="815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F6631F85-007C-067D-CE5D-34249EF199CF}"/>
              </a:ext>
            </a:extLst>
          </p:cNvPr>
          <p:cNvCxnSpPr>
            <a:cxnSpLocks/>
          </p:cNvCxnSpPr>
          <p:nvPr/>
        </p:nvCxnSpPr>
        <p:spPr>
          <a:xfrm flipH="1">
            <a:off x="8018636" y="2705793"/>
            <a:ext cx="810732" cy="815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DCDAAEBE-1F21-CEF0-5DC8-DE6E1A868B5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63931462"/>
              </p:ext>
            </p:extLst>
          </p:nvPr>
        </p:nvGraphicFramePr>
        <p:xfrm>
          <a:off x="1395664" y="4448592"/>
          <a:ext cx="3889992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5932">
                  <a:extLst>
                    <a:ext uri="{9D8B030D-6E8A-4147-A177-3AD203B41FA5}">
                      <a16:colId xmlns:a16="http://schemas.microsoft.com/office/drawing/2014/main" val="2334832925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3046708671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460747189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1240262975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1896189205"/>
                    </a:ext>
                  </a:extLst>
                </a:gridCol>
                <a:gridCol w="555932">
                  <a:extLst>
                    <a:ext uri="{9D8B030D-6E8A-4147-A177-3AD203B41FA5}">
                      <a16:colId xmlns:a16="http://schemas.microsoft.com/office/drawing/2014/main" val="2600699227"/>
                    </a:ext>
                  </a:extLst>
                </a:gridCol>
                <a:gridCol w="554400">
                  <a:extLst>
                    <a:ext uri="{9D8B030D-6E8A-4147-A177-3AD203B41FA5}">
                      <a16:colId xmlns:a16="http://schemas.microsoft.com/office/drawing/2014/main" val="23626830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65431"/>
                  </a:ext>
                </a:extLst>
              </a:tr>
            </a:tbl>
          </a:graphicData>
        </a:graphic>
      </p:graphicFrame>
      <p:sp>
        <p:nvSpPr>
          <p:cNvPr id="11" name="Flèche : droite 10">
            <a:extLst>
              <a:ext uri="{FF2B5EF4-FFF2-40B4-BE49-F238E27FC236}">
                <a16:creationId xmlns:a16="http://schemas.microsoft.com/office/drawing/2014/main" id="{49798320-322A-0F9B-4F2A-166B952CCF8B}"/>
              </a:ext>
            </a:extLst>
          </p:cNvPr>
          <p:cNvSpPr/>
          <p:nvPr/>
        </p:nvSpPr>
        <p:spPr>
          <a:xfrm>
            <a:off x="5639423" y="4016799"/>
            <a:ext cx="2064774" cy="61721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71027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3B0E77-82AF-6F4F-3412-753C3FD820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B60D7B-42B0-CB74-B1A0-C9BA655144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Organisation des supermarchés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DA9A1D2-06E6-F29B-6278-CCFA4A936B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/>
          <a:lstStyle/>
          <a:p>
            <a:pPr marL="514350" indent="-514350">
              <a:buAutoNum type="romanUcPeriod" startAt="2"/>
            </a:pPr>
            <a:r>
              <a:rPr lang="fr-FR" sz="2000" u="sng" dirty="0"/>
              <a:t>Organisations probabilistes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Création d’un tableau de probabilité </a:t>
            </a:r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r>
              <a:rPr lang="fr-FR" sz="1600" dirty="0"/>
              <a:t>	Extrait : 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3F2A868D-BF0B-F176-6061-0985D61D6E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02709163"/>
              </p:ext>
            </p:extLst>
          </p:nvPr>
        </p:nvGraphicFramePr>
        <p:xfrm>
          <a:off x="2031999" y="2804468"/>
          <a:ext cx="8128001" cy="2595880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1161143">
                  <a:extLst>
                    <a:ext uri="{9D8B030D-6E8A-4147-A177-3AD203B41FA5}">
                      <a16:colId xmlns:a16="http://schemas.microsoft.com/office/drawing/2014/main" val="2924766092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477930535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432787618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62591291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31225151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2021998650"/>
                    </a:ext>
                  </a:extLst>
                </a:gridCol>
                <a:gridCol w="1161143">
                  <a:extLst>
                    <a:ext uri="{9D8B030D-6E8A-4147-A177-3AD203B41FA5}">
                      <a16:colId xmlns:a16="http://schemas.microsoft.com/office/drawing/2014/main" val="199189701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fr-FR" sz="1800" b="1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Pommes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Jambon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Pâtes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Pizzas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34027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Pommes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50671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Lait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73724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Jambon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779330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Pâtes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712617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Lessive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0713683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sz="1800" b="1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Pizzas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91379392"/>
                  </a:ext>
                </a:extLst>
              </a:tr>
            </a:tbl>
          </a:graphicData>
        </a:graphic>
      </p:graphicFrame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3E8F0A9D-ADF2-29CA-EF2A-256BFCDE4625}"/>
              </a:ext>
            </a:extLst>
          </p:cNvPr>
          <p:cNvCxnSpPr>
            <a:cxnSpLocks/>
          </p:cNvCxnSpPr>
          <p:nvPr/>
        </p:nvCxnSpPr>
        <p:spPr>
          <a:xfrm flipH="1" flipV="1">
            <a:off x="7154779" y="4102408"/>
            <a:ext cx="930442" cy="1672283"/>
          </a:xfrm>
          <a:prstGeom prst="straightConnector1">
            <a:avLst/>
          </a:prstGeom>
          <a:ln w="381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7524674E-50B9-CB1E-252D-5998D5DDD3F7}"/>
              </a:ext>
            </a:extLst>
          </p:cNvPr>
          <p:cNvSpPr txBox="1"/>
          <p:nvPr/>
        </p:nvSpPr>
        <p:spPr>
          <a:xfrm>
            <a:off x="8085221" y="5641941"/>
            <a:ext cx="381802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dirty="0"/>
              <a:t>Pourcentage de chance d’acheter des pâtes sachant que du jambon a été acheté</a:t>
            </a:r>
          </a:p>
        </p:txBody>
      </p:sp>
    </p:spTree>
    <p:extLst>
      <p:ext uri="{BB962C8B-B14F-4D97-AF65-F5344CB8AC3E}">
        <p14:creationId xmlns:p14="http://schemas.microsoft.com/office/powerpoint/2010/main" val="3254820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95228-8B1F-BF09-E5A0-58DE1CB628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3F6EBE4-7B44-B93D-5A2A-A4DAEC176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Organisation des supermarchés</a:t>
            </a:r>
            <a:endParaRPr lang="fr-FR" sz="1600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95B29FC-26C7-4494-A209-628E8EA35A8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34065"/>
                <a:ext cx="10515600" cy="5242898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AutoNum type="romanUcPeriod" startAt="2"/>
                </a:pPr>
                <a:r>
                  <a:rPr lang="fr-FR" sz="2000" u="sng" dirty="0"/>
                  <a:t>Organisations probabilistes</a:t>
                </a:r>
              </a:p>
              <a:p>
                <a:pPr marL="0" indent="0">
                  <a:buNone/>
                </a:pPr>
                <a:endParaRPr lang="fr-FR" sz="20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sz="1600" dirty="0"/>
                  <a:t>Calcul du pourcentage de chance d’acheter dans le rayon R sachant qu’on a acheter dans le rayon R2 avec la formule 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marL="457200" lvl="1" indent="0">
                  <a:buNone/>
                </a:pPr>
                <a:endParaRPr lang="fr-FR" sz="1600" dirty="0"/>
              </a:p>
              <a:p>
                <a:pPr marL="457200" lvl="1" indent="0">
                  <a:buNone/>
                </a:pPr>
                <a:endParaRPr lang="fr-FR" sz="1600" dirty="0"/>
              </a:p>
              <a:p>
                <a:pPr marL="457200" lvl="1" indent="0">
                  <a:buNone/>
                </a:pPr>
                <a:r>
                  <a:rPr lang="fr-FR" sz="1600" dirty="0"/>
                  <a:t>Ce calcul permet de lier les rayons entre eux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sz="1600" dirty="0"/>
                  <a:t>Calcul du pourcentage de chance d’avoir un élément d’un rayon R dans une liste de course, la pondération du rayon, avec la formule 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16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</m:sub>
                        <m:sup/>
                        <m:e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1600" b="0" i="1" smtClean="0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FR" sz="1600" dirty="0"/>
              </a:p>
              <a:p>
                <a:pPr marL="457200" lvl="1" indent="0">
                  <a:buNone/>
                </a:pPr>
                <a:endParaRPr lang="fr-FR" sz="1600" dirty="0"/>
              </a:p>
              <a:p>
                <a:pPr marL="457200" lvl="1" indent="0">
                  <a:buNone/>
                </a:pPr>
                <a:endParaRPr lang="fr-FR" sz="1600" dirty="0"/>
              </a:p>
              <a:p>
                <a:pPr marL="457200" lvl="1" indent="0">
                  <a:buNone/>
                </a:pPr>
                <a:endParaRPr lang="fr-FR" sz="1600" dirty="0"/>
              </a:p>
              <a:p>
                <a:pPr marL="457200" lvl="1" indent="0">
                  <a:buNone/>
                </a:pPr>
                <a:endParaRPr lang="fr-FR" sz="1600" dirty="0"/>
              </a:p>
              <a:p>
                <a:pPr marL="457200" lvl="1" indent="0">
                  <a:buNone/>
                </a:pPr>
                <a:r>
                  <a:rPr lang="fr-FR" sz="1600" dirty="0"/>
                  <a:t>	</a:t>
                </a:r>
              </a:p>
              <a:p>
                <a:pPr marL="457200" lvl="1" indent="0">
                  <a:buNone/>
                </a:pPr>
                <a:r>
                  <a:rPr lang="fr-FR" sz="1600" dirty="0"/>
                  <a:t>	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A95B29FC-26C7-4494-A209-628E8EA35A8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34065"/>
                <a:ext cx="10515600" cy="5242898"/>
              </a:xfrm>
              <a:blipFill>
                <a:blip r:embed="rId2"/>
                <a:stretch>
                  <a:fillRect l="-638" t="-1279" b="-10000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88593EB-386E-F013-1A62-A2965CC62FB2}"/>
                  </a:ext>
                </a:extLst>
              </p:cNvPr>
              <p:cNvSpPr txBox="1"/>
              <p:nvPr/>
            </p:nvSpPr>
            <p:spPr>
              <a:xfrm>
                <a:off x="4603828" y="2172928"/>
                <a:ext cx="2984343" cy="70262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1| ∗|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2|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fr-FR" b="0" i="1" smtClean="0">
                              <a:latin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𝑅</m:t>
                          </m:r>
                          <m:r>
                            <a:rPr lang="fr-FR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1</m:t>
                          </m:r>
                        </m:sub>
                        <m:sup/>
                        <m:e>
                          <m:nary>
                            <m:naryPr>
                              <m:chr m:val="∑"/>
                              <m:supHide m:val="on"/>
                              <m:ctrlPr>
                                <a:rPr lang="fr-FR" i="1" smtClean="0">
                                  <a:latin typeface="Cambria Math" panose="02040503050406030204" pitchFamily="18" charset="0"/>
                                </a:rPr>
                              </m:ctrlPr>
                            </m:naryPr>
                            <m:sub>
                              <m:r>
                                <m:rPr>
                                  <m:brk m:alnAt="7"/>
                                </m:rP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𝜖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𝑅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sub>
                            <m:sup/>
                            <m:e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𝑀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𝑝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, 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  <m:r>
                                <a:rPr lang="fr-FR" b="0" i="1" smtClean="0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</m:nary>
                        </m:e>
                      </m:nary>
                    </m:oMath>
                  </m:oMathPara>
                </a14:m>
                <a:endParaRPr lang="fr-FR" dirty="0"/>
              </a:p>
            </p:txBody>
          </p:sp>
        </mc:Choice>
        <mc:Fallback>
          <p:sp>
            <p:nvSpPr>
              <p:cNvPr id="6" name="ZoneTexte 5">
                <a:extLst>
                  <a:ext uri="{FF2B5EF4-FFF2-40B4-BE49-F238E27FC236}">
                    <a16:creationId xmlns:a16="http://schemas.microsoft.com/office/drawing/2014/main" id="{688593EB-386E-F013-1A62-A2965CC62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03828" y="2172928"/>
                <a:ext cx="2984343" cy="70262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224253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965BD9-B8A1-ACDD-C1C7-4CFFE4F53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D2BBC6-203D-5E4A-6CB3-4DCB3AE99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Organisation des supermarchés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1689567-D55B-A75F-06F1-3AC4EFCBAE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>
            <a:noAutofit/>
          </a:bodyPr>
          <a:lstStyle/>
          <a:p>
            <a:pPr marL="514350" indent="-514350">
              <a:buAutoNum type="romanUcPeriod" startAt="2"/>
            </a:pPr>
            <a:r>
              <a:rPr lang="fr-FR" sz="2000" u="sng" dirty="0"/>
              <a:t>Organisations probabilistes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Organisation probabiliste 1 : organisation proche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Les rayons les plus liés entre eux sont côtes à côtes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Le rayon le plus pondéré est placé à l’opposé de l’entrée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On construit le supermarché à partir de cette case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1"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F6029AC0-6DDE-0077-1B06-2A90FCF21B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7842467"/>
              </p:ext>
            </p:extLst>
          </p:nvPr>
        </p:nvGraphicFramePr>
        <p:xfrm>
          <a:off x="616151" y="3429000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224C15C-0840-2022-D414-471BA8CEC5C2}"/>
              </a:ext>
            </a:extLst>
          </p:cNvPr>
          <p:cNvCxnSpPr>
            <a:cxnSpLocks/>
          </p:cNvCxnSpPr>
          <p:nvPr/>
        </p:nvCxnSpPr>
        <p:spPr>
          <a:xfrm>
            <a:off x="616151" y="3429000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A5A8C34B-A197-6C9C-094C-2B7B639E003B}"/>
              </a:ext>
            </a:extLst>
          </p:cNvPr>
          <p:cNvCxnSpPr>
            <a:cxnSpLocks/>
          </p:cNvCxnSpPr>
          <p:nvPr/>
        </p:nvCxnSpPr>
        <p:spPr>
          <a:xfrm flipH="1">
            <a:off x="616151" y="3429000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2686DE76-1821-FF10-3CD0-FFF36871A71F}"/>
              </a:ext>
            </a:extLst>
          </p:cNvPr>
          <p:cNvCxnSpPr/>
          <p:nvPr/>
        </p:nvCxnSpPr>
        <p:spPr>
          <a:xfrm flipH="1">
            <a:off x="1976280" y="5769952"/>
            <a:ext cx="648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F0DC15E7-8886-02A2-86DD-75B149632DA3}"/>
              </a:ext>
            </a:extLst>
          </p:cNvPr>
          <p:cNvCxnSpPr>
            <a:cxnSpLocks/>
          </p:cNvCxnSpPr>
          <p:nvPr/>
        </p:nvCxnSpPr>
        <p:spPr>
          <a:xfrm flipV="1">
            <a:off x="2984088" y="4737565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597E68AA-6112-26B0-F346-53E8281F9C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887276"/>
              </p:ext>
            </p:extLst>
          </p:nvPr>
        </p:nvGraphicFramePr>
        <p:xfrm>
          <a:off x="4848942" y="3429000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A10A44BF-AE0B-19D3-CA1E-F620062454A9}"/>
              </a:ext>
            </a:extLst>
          </p:cNvPr>
          <p:cNvCxnSpPr>
            <a:cxnSpLocks/>
          </p:cNvCxnSpPr>
          <p:nvPr/>
        </p:nvCxnSpPr>
        <p:spPr>
          <a:xfrm>
            <a:off x="4848942" y="3429000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213D2217-12AE-3F10-EC95-83C8CB08CC2E}"/>
              </a:ext>
            </a:extLst>
          </p:cNvPr>
          <p:cNvCxnSpPr>
            <a:cxnSpLocks/>
          </p:cNvCxnSpPr>
          <p:nvPr/>
        </p:nvCxnSpPr>
        <p:spPr>
          <a:xfrm flipH="1">
            <a:off x="4848942" y="3429000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0095F3A5-5203-D769-967F-56CA1FAE3AB2}"/>
              </a:ext>
            </a:extLst>
          </p:cNvPr>
          <p:cNvCxnSpPr/>
          <p:nvPr/>
        </p:nvCxnSpPr>
        <p:spPr>
          <a:xfrm flipH="1">
            <a:off x="5599473" y="5769952"/>
            <a:ext cx="648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5B5DF4B8-7E85-2A6B-1DCE-6557947041BE}"/>
              </a:ext>
            </a:extLst>
          </p:cNvPr>
          <p:cNvCxnSpPr>
            <a:cxnSpLocks/>
          </p:cNvCxnSpPr>
          <p:nvPr/>
        </p:nvCxnSpPr>
        <p:spPr>
          <a:xfrm flipV="1">
            <a:off x="7216879" y="4206623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2C5C1DBD-2246-58A3-6B3D-11F9D9D42795}"/>
              </a:ext>
            </a:extLst>
          </p:cNvPr>
          <p:cNvCxnSpPr/>
          <p:nvPr/>
        </p:nvCxnSpPr>
        <p:spPr>
          <a:xfrm flipH="1">
            <a:off x="6125496" y="4958790"/>
            <a:ext cx="648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A3A56585-9D1F-B344-4F12-B1D9FD6F8DF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31879831"/>
              </p:ext>
            </p:extLst>
          </p:nvPr>
        </p:nvGraphicFramePr>
        <p:xfrm>
          <a:off x="9187424" y="3429000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35085F97-5F05-314B-2D27-D4BE05CDF6B7}"/>
              </a:ext>
            </a:extLst>
          </p:cNvPr>
          <p:cNvCxnSpPr>
            <a:cxnSpLocks/>
          </p:cNvCxnSpPr>
          <p:nvPr/>
        </p:nvCxnSpPr>
        <p:spPr>
          <a:xfrm>
            <a:off x="9187424" y="3429000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DB650C03-A143-EE46-2D6F-428D4C4500E8}"/>
              </a:ext>
            </a:extLst>
          </p:cNvPr>
          <p:cNvCxnSpPr>
            <a:cxnSpLocks/>
          </p:cNvCxnSpPr>
          <p:nvPr/>
        </p:nvCxnSpPr>
        <p:spPr>
          <a:xfrm flipH="1">
            <a:off x="9187424" y="3429000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56A6C430-D7DC-8B07-7E77-EFCDFB4CFB2E}"/>
              </a:ext>
            </a:extLst>
          </p:cNvPr>
          <p:cNvCxnSpPr/>
          <p:nvPr/>
        </p:nvCxnSpPr>
        <p:spPr>
          <a:xfrm flipH="1">
            <a:off x="9407011" y="5779785"/>
            <a:ext cx="648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2A74E7D5-76E5-5B75-F265-D47C253BD4BC}"/>
              </a:ext>
            </a:extLst>
          </p:cNvPr>
          <p:cNvCxnSpPr>
            <a:cxnSpLocks/>
          </p:cNvCxnSpPr>
          <p:nvPr/>
        </p:nvCxnSpPr>
        <p:spPr>
          <a:xfrm flipV="1">
            <a:off x="11555361" y="3636355"/>
            <a:ext cx="0" cy="648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E3023BB8-78B1-86CC-D2F3-4B676025104A}"/>
              </a:ext>
            </a:extLst>
          </p:cNvPr>
          <p:cNvCxnSpPr/>
          <p:nvPr/>
        </p:nvCxnSpPr>
        <p:spPr>
          <a:xfrm flipH="1">
            <a:off x="9903540" y="4958790"/>
            <a:ext cx="648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2B23E96F-1401-3C1A-D3A9-CA30C8B77526}"/>
              </a:ext>
            </a:extLst>
          </p:cNvPr>
          <p:cNvCxnSpPr/>
          <p:nvPr/>
        </p:nvCxnSpPr>
        <p:spPr>
          <a:xfrm flipH="1">
            <a:off x="10459065" y="4403264"/>
            <a:ext cx="648929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021F8E2D-DBD8-E47C-4C06-21FA7ECE1EFE}"/>
              </a:ext>
            </a:extLst>
          </p:cNvPr>
          <p:cNvSpPr/>
          <p:nvPr/>
        </p:nvSpPr>
        <p:spPr>
          <a:xfrm>
            <a:off x="3395409" y="4188138"/>
            <a:ext cx="1042213" cy="64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CFDA621B-BF7C-7791-9571-1BEFA4C9411B}"/>
              </a:ext>
            </a:extLst>
          </p:cNvPr>
          <p:cNvSpPr/>
          <p:nvPr/>
        </p:nvSpPr>
        <p:spPr>
          <a:xfrm>
            <a:off x="7681045" y="4188138"/>
            <a:ext cx="1042213" cy="64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665031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56F8E-D8CF-A267-D2CF-ED5FAB2AFD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3289F8-349A-7696-70AE-F20994BD6F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Organisation des supermarchés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499AF79-6FE4-BE36-964D-ABB5414415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>
            <a:noAutofit/>
          </a:bodyPr>
          <a:lstStyle/>
          <a:p>
            <a:pPr marL="514350" indent="-514350">
              <a:buAutoNum type="romanUcPeriod" startAt="2"/>
            </a:pPr>
            <a:r>
              <a:rPr lang="fr-FR" sz="2000" u="sng" dirty="0"/>
              <a:t>Organisations probabilistes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Organisation probabiliste 1 : organisation proche</a:t>
            </a:r>
          </a:p>
          <a:p>
            <a:pPr marL="914400" lvl="2" indent="0">
              <a:buNone/>
            </a:pPr>
            <a:r>
              <a:rPr lang="fr-FR" sz="1600" dirty="0"/>
              <a:t>Résultat 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74BF6CFE-6C6F-DFB6-F88C-79FE7468EA7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8931517"/>
              </p:ext>
            </p:extLst>
          </p:nvPr>
        </p:nvGraphicFramePr>
        <p:xfrm>
          <a:off x="6586217" y="1452874"/>
          <a:ext cx="504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1260000">
                <a:tc>
                  <a:txBody>
                    <a:bodyPr/>
                    <a:lstStyle/>
                    <a:p>
                      <a:endParaRPr lang="fr-FR" sz="15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ménagers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d’hygiène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Conserves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Biscuits salés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Epicerie sucré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Surgelés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Boisson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Petit-déjeuner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Condiment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Epicerie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Boucherie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Boulangerie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laitiers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Crèmerie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Fruits et Légumes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7159F521-0A5E-16AC-4E2D-9468D2FB9D7F}"/>
              </a:ext>
            </a:extLst>
          </p:cNvPr>
          <p:cNvCxnSpPr>
            <a:cxnSpLocks/>
          </p:cNvCxnSpPr>
          <p:nvPr/>
        </p:nvCxnSpPr>
        <p:spPr>
          <a:xfrm>
            <a:off x="6586217" y="1452874"/>
            <a:ext cx="1258372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62AE006A-F341-FE67-C1E8-7E10DFD62350}"/>
              </a:ext>
            </a:extLst>
          </p:cNvPr>
          <p:cNvCxnSpPr>
            <a:cxnSpLocks/>
          </p:cNvCxnSpPr>
          <p:nvPr/>
        </p:nvCxnSpPr>
        <p:spPr>
          <a:xfrm flipH="1">
            <a:off x="6586217" y="1452874"/>
            <a:ext cx="1258372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CD0142E4-E0F7-B7B5-6209-76C85052D6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2043398"/>
              </p:ext>
            </p:extLst>
          </p:nvPr>
        </p:nvGraphicFramePr>
        <p:xfrm>
          <a:off x="1224546" y="2353262"/>
          <a:ext cx="3240000" cy="323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809806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51E9864-DA18-69C2-E0B1-A49B3FD88370}"/>
              </a:ext>
            </a:extLst>
          </p:cNvPr>
          <p:cNvCxnSpPr>
            <a:cxnSpLocks/>
          </p:cNvCxnSpPr>
          <p:nvPr/>
        </p:nvCxnSpPr>
        <p:spPr>
          <a:xfrm>
            <a:off x="1224546" y="2353262"/>
            <a:ext cx="810732" cy="815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C026A19B-A0CD-2B17-D741-068A023D440E}"/>
              </a:ext>
            </a:extLst>
          </p:cNvPr>
          <p:cNvCxnSpPr>
            <a:cxnSpLocks/>
          </p:cNvCxnSpPr>
          <p:nvPr/>
        </p:nvCxnSpPr>
        <p:spPr>
          <a:xfrm flipH="1">
            <a:off x="1224546" y="2353262"/>
            <a:ext cx="810732" cy="815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t égal à 13">
            <a:extLst>
              <a:ext uri="{FF2B5EF4-FFF2-40B4-BE49-F238E27FC236}">
                <a16:creationId xmlns:a16="http://schemas.microsoft.com/office/drawing/2014/main" id="{10160DAF-3CD5-CA06-9273-E897220CF5CA}"/>
              </a:ext>
            </a:extLst>
          </p:cNvPr>
          <p:cNvSpPr/>
          <p:nvPr/>
        </p:nvSpPr>
        <p:spPr>
          <a:xfrm>
            <a:off x="4865875" y="3628745"/>
            <a:ext cx="1319013" cy="688258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13063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203228-6090-8D2B-3062-23F83A9C57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E62AEB-E7C8-4673-5656-F18366C17D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Organisation des supermarchés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2780747-9631-78E6-312E-1D614D6FE0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>
            <a:noAutofit/>
          </a:bodyPr>
          <a:lstStyle/>
          <a:p>
            <a:pPr marL="514350" indent="-514350">
              <a:buAutoNum type="romanUcPeriod" startAt="2"/>
            </a:pPr>
            <a:r>
              <a:rPr lang="fr-FR" sz="2000" u="sng" dirty="0"/>
              <a:t>Organisations probabilistes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Organisation probabiliste 2 : organisation loin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Les rayons les plus liés entre eux sont le plus loin possible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Le rayon le plus pondéré est placé à l’opposé de l’entrée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On construit le supermarché à partir de cette case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1600" dirty="0"/>
          </a:p>
          <a:p>
            <a:pPr lvl="1"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</p:txBody>
      </p:sp>
      <p:graphicFrame>
        <p:nvGraphicFramePr>
          <p:cNvPr id="4" name="Tableau 3">
            <a:extLst>
              <a:ext uri="{FF2B5EF4-FFF2-40B4-BE49-F238E27FC236}">
                <a16:creationId xmlns:a16="http://schemas.microsoft.com/office/drawing/2014/main" id="{03D27D1C-5466-464F-264F-A763A7D301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29958463"/>
              </p:ext>
            </p:extLst>
          </p:nvPr>
        </p:nvGraphicFramePr>
        <p:xfrm>
          <a:off x="627187" y="3481691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lt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8CA70A8B-75E7-764F-86CF-4741CA04D525}"/>
              </a:ext>
            </a:extLst>
          </p:cNvPr>
          <p:cNvCxnSpPr>
            <a:cxnSpLocks/>
          </p:cNvCxnSpPr>
          <p:nvPr/>
        </p:nvCxnSpPr>
        <p:spPr>
          <a:xfrm>
            <a:off x="627187" y="3481691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986BC8A4-A149-33F8-EC76-A273442F6976}"/>
              </a:ext>
            </a:extLst>
          </p:cNvPr>
          <p:cNvCxnSpPr>
            <a:cxnSpLocks/>
          </p:cNvCxnSpPr>
          <p:nvPr/>
        </p:nvCxnSpPr>
        <p:spPr>
          <a:xfrm flipH="1">
            <a:off x="627187" y="3481691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9AE69E88-FD41-4E96-F66B-31A46C451A4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3447282"/>
              </p:ext>
            </p:extLst>
          </p:nvPr>
        </p:nvGraphicFramePr>
        <p:xfrm>
          <a:off x="4859978" y="3481691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23" name="Connecteur droit 22">
            <a:extLst>
              <a:ext uri="{FF2B5EF4-FFF2-40B4-BE49-F238E27FC236}">
                <a16:creationId xmlns:a16="http://schemas.microsoft.com/office/drawing/2014/main" id="{8A48101D-60C3-FEC9-8A11-18BA6C15702B}"/>
              </a:ext>
            </a:extLst>
          </p:cNvPr>
          <p:cNvCxnSpPr>
            <a:cxnSpLocks/>
          </p:cNvCxnSpPr>
          <p:nvPr/>
        </p:nvCxnSpPr>
        <p:spPr>
          <a:xfrm>
            <a:off x="4859978" y="3481691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23">
            <a:extLst>
              <a:ext uri="{FF2B5EF4-FFF2-40B4-BE49-F238E27FC236}">
                <a16:creationId xmlns:a16="http://schemas.microsoft.com/office/drawing/2014/main" id="{FC2C3270-CEA1-A0F3-2550-C51BC7A4E49F}"/>
              </a:ext>
            </a:extLst>
          </p:cNvPr>
          <p:cNvCxnSpPr>
            <a:cxnSpLocks/>
          </p:cNvCxnSpPr>
          <p:nvPr/>
        </p:nvCxnSpPr>
        <p:spPr>
          <a:xfrm flipH="1">
            <a:off x="4859978" y="3481691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30" name="Tableau 29">
            <a:extLst>
              <a:ext uri="{FF2B5EF4-FFF2-40B4-BE49-F238E27FC236}">
                <a16:creationId xmlns:a16="http://schemas.microsoft.com/office/drawing/2014/main" id="{4EF46384-88DD-C16C-3C5B-152E550C697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82242075"/>
              </p:ext>
            </p:extLst>
          </p:nvPr>
        </p:nvGraphicFramePr>
        <p:xfrm>
          <a:off x="9198460" y="3481691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31" name="Connecteur droit 30">
            <a:extLst>
              <a:ext uri="{FF2B5EF4-FFF2-40B4-BE49-F238E27FC236}">
                <a16:creationId xmlns:a16="http://schemas.microsoft.com/office/drawing/2014/main" id="{08CEE9C9-A6FA-5283-8518-5E462A72C8A9}"/>
              </a:ext>
            </a:extLst>
          </p:cNvPr>
          <p:cNvCxnSpPr>
            <a:cxnSpLocks/>
          </p:cNvCxnSpPr>
          <p:nvPr/>
        </p:nvCxnSpPr>
        <p:spPr>
          <a:xfrm>
            <a:off x="9198460" y="3481691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31">
            <a:extLst>
              <a:ext uri="{FF2B5EF4-FFF2-40B4-BE49-F238E27FC236}">
                <a16:creationId xmlns:a16="http://schemas.microsoft.com/office/drawing/2014/main" id="{18A157CC-6A09-A70A-DD04-0007E7CCE3EC}"/>
              </a:ext>
            </a:extLst>
          </p:cNvPr>
          <p:cNvCxnSpPr>
            <a:cxnSpLocks/>
          </p:cNvCxnSpPr>
          <p:nvPr/>
        </p:nvCxnSpPr>
        <p:spPr>
          <a:xfrm flipH="1">
            <a:off x="9198460" y="3481691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Flèche : droite 36">
            <a:extLst>
              <a:ext uri="{FF2B5EF4-FFF2-40B4-BE49-F238E27FC236}">
                <a16:creationId xmlns:a16="http://schemas.microsoft.com/office/drawing/2014/main" id="{BD8096D4-C3AF-8355-2119-1EBBFA2B526D}"/>
              </a:ext>
            </a:extLst>
          </p:cNvPr>
          <p:cNvSpPr/>
          <p:nvPr/>
        </p:nvSpPr>
        <p:spPr>
          <a:xfrm>
            <a:off x="3406445" y="4240829"/>
            <a:ext cx="1042213" cy="64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8" name="Flèche : droite 37">
            <a:extLst>
              <a:ext uri="{FF2B5EF4-FFF2-40B4-BE49-F238E27FC236}">
                <a16:creationId xmlns:a16="http://schemas.microsoft.com/office/drawing/2014/main" id="{1AC90921-58D5-D2B7-7A98-061B7720FE2F}"/>
              </a:ext>
            </a:extLst>
          </p:cNvPr>
          <p:cNvSpPr/>
          <p:nvPr/>
        </p:nvSpPr>
        <p:spPr>
          <a:xfrm>
            <a:off x="7692081" y="4240829"/>
            <a:ext cx="1042213" cy="648000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8F3B4284-5587-F330-F8B0-2EA38941B9E9}"/>
              </a:ext>
            </a:extLst>
          </p:cNvPr>
          <p:cNvSpPr/>
          <p:nvPr/>
        </p:nvSpPr>
        <p:spPr>
          <a:xfrm rot="2893684">
            <a:off x="770791" y="3371302"/>
            <a:ext cx="2550709" cy="2226064"/>
          </a:xfrm>
          <a:prstGeom prst="arc">
            <a:avLst>
              <a:gd name="adj1" fmla="val 16200000"/>
              <a:gd name="adj2" fmla="val 12888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4891F12B-EAF2-051E-944F-7280A1D635E9}"/>
              </a:ext>
            </a:extLst>
          </p:cNvPr>
          <p:cNvSpPr/>
          <p:nvPr/>
        </p:nvSpPr>
        <p:spPr>
          <a:xfrm rot="8173149">
            <a:off x="508767" y="3775797"/>
            <a:ext cx="2550709" cy="2226064"/>
          </a:xfrm>
          <a:prstGeom prst="arc">
            <a:avLst>
              <a:gd name="adj1" fmla="val 16200000"/>
              <a:gd name="adj2" fmla="val 12888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62EDCF54-9275-C302-328C-3ACAC905A0B6}"/>
              </a:ext>
            </a:extLst>
          </p:cNvPr>
          <p:cNvSpPr/>
          <p:nvPr/>
        </p:nvSpPr>
        <p:spPr>
          <a:xfrm rot="8291250">
            <a:off x="4871251" y="4414110"/>
            <a:ext cx="1729223" cy="1446791"/>
          </a:xfrm>
          <a:prstGeom prst="arc">
            <a:avLst>
              <a:gd name="adj1" fmla="val 16200000"/>
              <a:gd name="adj2" fmla="val 12888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508F1F64-6988-36EC-B3FE-333CB0EA2307}"/>
              </a:ext>
            </a:extLst>
          </p:cNvPr>
          <p:cNvSpPr/>
          <p:nvPr/>
        </p:nvSpPr>
        <p:spPr>
          <a:xfrm rot="2911581">
            <a:off x="5663717" y="3500208"/>
            <a:ext cx="1729223" cy="1446791"/>
          </a:xfrm>
          <a:prstGeom prst="arc">
            <a:avLst>
              <a:gd name="adj1" fmla="val 16200000"/>
              <a:gd name="adj2" fmla="val 12888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Arc 16">
            <a:extLst>
              <a:ext uri="{FF2B5EF4-FFF2-40B4-BE49-F238E27FC236}">
                <a16:creationId xmlns:a16="http://schemas.microsoft.com/office/drawing/2014/main" id="{7055D492-BEB7-148B-861A-8E7BCAF1D294}"/>
              </a:ext>
            </a:extLst>
          </p:cNvPr>
          <p:cNvSpPr/>
          <p:nvPr/>
        </p:nvSpPr>
        <p:spPr>
          <a:xfrm rot="19170239">
            <a:off x="5269690" y="3249061"/>
            <a:ext cx="1729223" cy="1446791"/>
          </a:xfrm>
          <a:prstGeom prst="arc">
            <a:avLst>
              <a:gd name="adj1" fmla="val 16200000"/>
              <a:gd name="adj2" fmla="val 12888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8" name="Arc 17">
            <a:extLst>
              <a:ext uri="{FF2B5EF4-FFF2-40B4-BE49-F238E27FC236}">
                <a16:creationId xmlns:a16="http://schemas.microsoft.com/office/drawing/2014/main" id="{93722CAE-9ECF-A1E3-2DE4-F6BC1832609E}"/>
              </a:ext>
            </a:extLst>
          </p:cNvPr>
          <p:cNvSpPr/>
          <p:nvPr/>
        </p:nvSpPr>
        <p:spPr>
          <a:xfrm rot="13719978">
            <a:off x="4482847" y="4194168"/>
            <a:ext cx="1729223" cy="1446791"/>
          </a:xfrm>
          <a:prstGeom prst="arc">
            <a:avLst>
              <a:gd name="adj1" fmla="val 16200000"/>
              <a:gd name="adj2" fmla="val 12888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7" name="Arc 26">
            <a:extLst>
              <a:ext uri="{FF2B5EF4-FFF2-40B4-BE49-F238E27FC236}">
                <a16:creationId xmlns:a16="http://schemas.microsoft.com/office/drawing/2014/main" id="{0F10EA1C-543D-6348-26A1-5CC4362123C6}"/>
              </a:ext>
            </a:extLst>
          </p:cNvPr>
          <p:cNvSpPr/>
          <p:nvPr/>
        </p:nvSpPr>
        <p:spPr>
          <a:xfrm rot="8279749">
            <a:off x="9379749" y="3079591"/>
            <a:ext cx="2113243" cy="1805224"/>
          </a:xfrm>
          <a:prstGeom prst="arc">
            <a:avLst>
              <a:gd name="adj1" fmla="val 16200000"/>
              <a:gd name="adj2" fmla="val 12888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8" name="Arc 27">
            <a:extLst>
              <a:ext uri="{FF2B5EF4-FFF2-40B4-BE49-F238E27FC236}">
                <a16:creationId xmlns:a16="http://schemas.microsoft.com/office/drawing/2014/main" id="{D7A16790-076D-C896-3DEB-E09E535E7615}"/>
              </a:ext>
            </a:extLst>
          </p:cNvPr>
          <p:cNvSpPr/>
          <p:nvPr/>
        </p:nvSpPr>
        <p:spPr>
          <a:xfrm rot="19331251">
            <a:off x="8979692" y="4739359"/>
            <a:ext cx="2113243" cy="1805224"/>
          </a:xfrm>
          <a:prstGeom prst="arc">
            <a:avLst>
              <a:gd name="adj1" fmla="val 16200000"/>
              <a:gd name="adj2" fmla="val 128880"/>
            </a:avLst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689CB293-5D19-2E02-A058-5BEAEFB2DB9C}"/>
              </a:ext>
            </a:extLst>
          </p:cNvPr>
          <p:cNvSpPr/>
          <p:nvPr/>
        </p:nvSpPr>
        <p:spPr>
          <a:xfrm rot="2890360">
            <a:off x="8382984" y="3571800"/>
            <a:ext cx="2113243" cy="1805224"/>
          </a:xfrm>
          <a:prstGeom prst="arc">
            <a:avLst>
              <a:gd name="adj1" fmla="val 16200000"/>
              <a:gd name="adj2" fmla="val 12888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40" name="Arc 39">
            <a:extLst>
              <a:ext uri="{FF2B5EF4-FFF2-40B4-BE49-F238E27FC236}">
                <a16:creationId xmlns:a16="http://schemas.microsoft.com/office/drawing/2014/main" id="{9684CA3B-AA0C-2504-615C-43C4660E3A93}"/>
              </a:ext>
            </a:extLst>
          </p:cNvPr>
          <p:cNvSpPr/>
          <p:nvPr/>
        </p:nvSpPr>
        <p:spPr>
          <a:xfrm rot="13812501">
            <a:off x="10043307" y="3843683"/>
            <a:ext cx="2113243" cy="1805224"/>
          </a:xfrm>
          <a:prstGeom prst="arc">
            <a:avLst>
              <a:gd name="adj1" fmla="val 16200000"/>
              <a:gd name="adj2" fmla="val 128880"/>
            </a:avLst>
          </a:prstGeom>
          <a:ln>
            <a:headEnd type="non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9630059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CB6B6-85DB-EE6E-EBFA-795E39A31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BA311EF-55D7-FE84-2862-3E10FB2DF7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Organisation des supermarchés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8E9DEC-329C-3DC4-E9CA-57C102DFA85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>
            <a:noAutofit/>
          </a:bodyPr>
          <a:lstStyle/>
          <a:p>
            <a:pPr marL="514350" indent="-514350">
              <a:buAutoNum type="romanUcPeriod" startAt="2"/>
            </a:pPr>
            <a:r>
              <a:rPr lang="fr-FR" sz="2000" u="sng" dirty="0"/>
              <a:t>Organisations probabilistes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Organisation probabiliste 2 : organisation loin</a:t>
            </a:r>
          </a:p>
          <a:p>
            <a:pPr marL="914400" lvl="2" indent="0">
              <a:buNone/>
            </a:pPr>
            <a:r>
              <a:rPr lang="fr-FR" sz="1600" dirty="0"/>
              <a:t>Résultat :</a:t>
            </a:r>
          </a:p>
          <a:p>
            <a:pPr lvl="1">
              <a:buFont typeface="Wingdings" panose="05000000000000000000" pitchFamily="2" charset="2"/>
              <a:buChar char="Ø"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FE916AD6-4CB7-B815-4A61-3C350BD3F44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96920931"/>
              </p:ext>
            </p:extLst>
          </p:nvPr>
        </p:nvGraphicFramePr>
        <p:xfrm>
          <a:off x="6586217" y="1452874"/>
          <a:ext cx="5040000" cy="50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126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12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15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Boisson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Condiment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Boucherie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laitiers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Petit-déjeuner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Biscuits salés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Boulangerie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Epicerie sucrée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ménagers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Produits d’hygiène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Surgelés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1260000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Crémerie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Conserves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Epicerie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15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Fruits et Légumes</a:t>
                      </a:r>
                    </a:p>
                  </a:txBody>
                  <a:tcPr marL="106680" marR="106680" marT="53340" marB="5334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1E7D464B-4C0D-AD98-03BE-402F84B4BEE7}"/>
              </a:ext>
            </a:extLst>
          </p:cNvPr>
          <p:cNvCxnSpPr>
            <a:cxnSpLocks/>
          </p:cNvCxnSpPr>
          <p:nvPr/>
        </p:nvCxnSpPr>
        <p:spPr>
          <a:xfrm>
            <a:off x="6586217" y="1452874"/>
            <a:ext cx="1258372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1C4FA7C6-9738-0222-7D95-12E386D960E8}"/>
              </a:ext>
            </a:extLst>
          </p:cNvPr>
          <p:cNvCxnSpPr>
            <a:cxnSpLocks/>
          </p:cNvCxnSpPr>
          <p:nvPr/>
        </p:nvCxnSpPr>
        <p:spPr>
          <a:xfrm flipH="1">
            <a:off x="6586217" y="1452874"/>
            <a:ext cx="1258372" cy="123307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BD60B368-78F6-0A92-8C62-9A16E76F40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1535594"/>
              </p:ext>
            </p:extLst>
          </p:nvPr>
        </p:nvGraphicFramePr>
        <p:xfrm>
          <a:off x="1425211" y="2353262"/>
          <a:ext cx="3240000" cy="32392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10000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810000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8098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809806"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</a:p>
                  </a:txBody>
                  <a:tcPr marL="91438" marR="91438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B1CBEED2-6A9A-D5D3-DD0C-7059CBFE8110}"/>
              </a:ext>
            </a:extLst>
          </p:cNvPr>
          <p:cNvCxnSpPr>
            <a:cxnSpLocks/>
          </p:cNvCxnSpPr>
          <p:nvPr/>
        </p:nvCxnSpPr>
        <p:spPr>
          <a:xfrm>
            <a:off x="1425211" y="2353262"/>
            <a:ext cx="810732" cy="815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eur droit 11">
            <a:extLst>
              <a:ext uri="{FF2B5EF4-FFF2-40B4-BE49-F238E27FC236}">
                <a16:creationId xmlns:a16="http://schemas.microsoft.com/office/drawing/2014/main" id="{2D0FA532-1B43-14C1-3906-19E497670551}"/>
              </a:ext>
            </a:extLst>
          </p:cNvPr>
          <p:cNvCxnSpPr>
            <a:cxnSpLocks/>
          </p:cNvCxnSpPr>
          <p:nvPr/>
        </p:nvCxnSpPr>
        <p:spPr>
          <a:xfrm flipH="1">
            <a:off x="1425211" y="2353262"/>
            <a:ext cx="810732" cy="815893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Est égal à 13">
            <a:extLst>
              <a:ext uri="{FF2B5EF4-FFF2-40B4-BE49-F238E27FC236}">
                <a16:creationId xmlns:a16="http://schemas.microsoft.com/office/drawing/2014/main" id="{B97A7B11-C6F1-79C3-02F3-774ECE9EE603}"/>
              </a:ext>
            </a:extLst>
          </p:cNvPr>
          <p:cNvSpPr/>
          <p:nvPr/>
        </p:nvSpPr>
        <p:spPr>
          <a:xfrm>
            <a:off x="4966207" y="3628743"/>
            <a:ext cx="1319013" cy="688258"/>
          </a:xfrm>
          <a:prstGeom prst="mathEqual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878824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82795A-1305-EE24-1588-2B4F98EFB8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18A2F86-5A82-796F-0133-7D39C793D3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3. Simulation des rendements 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BBF05D2E-A27C-58B7-C7C0-2258D8F18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marL="514350" indent="-514350">
              <a:buAutoNum type="romanUcPeriod"/>
            </a:pPr>
            <a:r>
              <a:rPr lang="fr-FR" sz="2000" u="sng" dirty="0"/>
              <a:t>Création d’une liste de course</a:t>
            </a:r>
          </a:p>
          <a:p>
            <a:pPr marL="457200" lvl="1" indent="0">
              <a:buNone/>
            </a:pPr>
            <a:endParaRPr lang="fr-FR" u="sng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600" dirty="0"/>
              <a:t>Liste de course = Liste de produits</a:t>
            </a:r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600" dirty="0"/>
              <a:t>Liste crée à l’aide de la pondération de chacun des produits</a:t>
            </a:r>
          </a:p>
          <a:p>
            <a:pPr marL="1371600" lvl="3" indent="0">
              <a:buNone/>
            </a:pPr>
            <a:r>
              <a:rPr lang="fr-FR" sz="1600" dirty="0"/>
              <a:t>Exemple</a:t>
            </a:r>
          </a:p>
          <a:p>
            <a:pPr marL="914400" lvl="2" indent="0">
              <a:buNone/>
            </a:pPr>
            <a:endParaRPr lang="fr-FR" sz="1800" dirty="0"/>
          </a:p>
        </p:txBody>
      </p: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5BB28932-8F27-72B7-CDD5-F0F19460E0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2690631"/>
              </p:ext>
            </p:extLst>
          </p:nvPr>
        </p:nvGraphicFramePr>
        <p:xfrm>
          <a:off x="909484" y="3547551"/>
          <a:ext cx="1037303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6629">
                  <a:extLst>
                    <a:ext uri="{9D8B030D-6E8A-4147-A177-3AD203B41FA5}">
                      <a16:colId xmlns:a16="http://schemas.microsoft.com/office/drawing/2014/main" val="2334832925"/>
                    </a:ext>
                  </a:extLst>
                </a:gridCol>
                <a:gridCol w="1296629">
                  <a:extLst>
                    <a:ext uri="{9D8B030D-6E8A-4147-A177-3AD203B41FA5}">
                      <a16:colId xmlns:a16="http://schemas.microsoft.com/office/drawing/2014/main" val="3046708671"/>
                    </a:ext>
                  </a:extLst>
                </a:gridCol>
                <a:gridCol w="1296629">
                  <a:extLst>
                    <a:ext uri="{9D8B030D-6E8A-4147-A177-3AD203B41FA5}">
                      <a16:colId xmlns:a16="http://schemas.microsoft.com/office/drawing/2014/main" val="460747189"/>
                    </a:ext>
                  </a:extLst>
                </a:gridCol>
                <a:gridCol w="1296629">
                  <a:extLst>
                    <a:ext uri="{9D8B030D-6E8A-4147-A177-3AD203B41FA5}">
                      <a16:colId xmlns:a16="http://schemas.microsoft.com/office/drawing/2014/main" val="1240262975"/>
                    </a:ext>
                  </a:extLst>
                </a:gridCol>
                <a:gridCol w="1296629">
                  <a:extLst>
                    <a:ext uri="{9D8B030D-6E8A-4147-A177-3AD203B41FA5}">
                      <a16:colId xmlns:a16="http://schemas.microsoft.com/office/drawing/2014/main" val="1896189205"/>
                    </a:ext>
                  </a:extLst>
                </a:gridCol>
                <a:gridCol w="1296629">
                  <a:extLst>
                    <a:ext uri="{9D8B030D-6E8A-4147-A177-3AD203B41FA5}">
                      <a16:colId xmlns:a16="http://schemas.microsoft.com/office/drawing/2014/main" val="2600699227"/>
                    </a:ext>
                  </a:extLst>
                </a:gridCol>
                <a:gridCol w="1296629">
                  <a:extLst>
                    <a:ext uri="{9D8B030D-6E8A-4147-A177-3AD203B41FA5}">
                      <a16:colId xmlns:a16="http://schemas.microsoft.com/office/drawing/2014/main" val="2362683028"/>
                    </a:ext>
                  </a:extLst>
                </a:gridCol>
                <a:gridCol w="1296629">
                  <a:extLst>
                    <a:ext uri="{9D8B030D-6E8A-4147-A177-3AD203B41FA5}">
                      <a16:colId xmlns:a16="http://schemas.microsoft.com/office/drawing/2014/main" val="276530228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Oignons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Œufs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Crème fraîche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Huile d’olive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Eau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Céréales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965431"/>
                  </a:ext>
                </a:extLst>
              </a:tr>
            </a:tbl>
          </a:graphicData>
        </a:graphic>
      </p:graphicFrame>
      <p:graphicFrame>
        <p:nvGraphicFramePr>
          <p:cNvPr id="11" name="Tableau 10">
            <a:extLst>
              <a:ext uri="{FF2B5EF4-FFF2-40B4-BE49-F238E27FC236}">
                <a16:creationId xmlns:a16="http://schemas.microsoft.com/office/drawing/2014/main" id="{343C8016-A17A-A878-7A4B-3BDAB18282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3521079"/>
              </p:ext>
            </p:extLst>
          </p:nvPr>
        </p:nvGraphicFramePr>
        <p:xfrm>
          <a:off x="909484" y="4542217"/>
          <a:ext cx="9080092" cy="640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7156">
                  <a:extLst>
                    <a:ext uri="{9D8B030D-6E8A-4147-A177-3AD203B41FA5}">
                      <a16:colId xmlns:a16="http://schemas.microsoft.com/office/drawing/2014/main" val="106433847"/>
                    </a:ext>
                  </a:extLst>
                </a:gridCol>
                <a:gridCol w="1297156">
                  <a:extLst>
                    <a:ext uri="{9D8B030D-6E8A-4147-A177-3AD203B41FA5}">
                      <a16:colId xmlns:a16="http://schemas.microsoft.com/office/drawing/2014/main" val="3327611604"/>
                    </a:ext>
                  </a:extLst>
                </a:gridCol>
                <a:gridCol w="1297156">
                  <a:extLst>
                    <a:ext uri="{9D8B030D-6E8A-4147-A177-3AD203B41FA5}">
                      <a16:colId xmlns:a16="http://schemas.microsoft.com/office/drawing/2014/main" val="3255213071"/>
                    </a:ext>
                  </a:extLst>
                </a:gridCol>
                <a:gridCol w="1297156">
                  <a:extLst>
                    <a:ext uri="{9D8B030D-6E8A-4147-A177-3AD203B41FA5}">
                      <a16:colId xmlns:a16="http://schemas.microsoft.com/office/drawing/2014/main" val="1926691075"/>
                    </a:ext>
                  </a:extLst>
                </a:gridCol>
                <a:gridCol w="1297156">
                  <a:extLst>
                    <a:ext uri="{9D8B030D-6E8A-4147-A177-3AD203B41FA5}">
                      <a16:colId xmlns:a16="http://schemas.microsoft.com/office/drawing/2014/main" val="2497811986"/>
                    </a:ext>
                  </a:extLst>
                </a:gridCol>
                <a:gridCol w="1297156">
                  <a:extLst>
                    <a:ext uri="{9D8B030D-6E8A-4147-A177-3AD203B41FA5}">
                      <a16:colId xmlns:a16="http://schemas.microsoft.com/office/drawing/2014/main" val="3060188384"/>
                    </a:ext>
                  </a:extLst>
                </a:gridCol>
                <a:gridCol w="1297156">
                  <a:extLst>
                    <a:ext uri="{9D8B030D-6E8A-4147-A177-3AD203B41FA5}">
                      <a16:colId xmlns:a16="http://schemas.microsoft.com/office/drawing/2014/main" val="8710896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Thé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Papier toilette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Savon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Liquide vaisselle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Biscuits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Chocolat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>
                          <a:solidFill>
                            <a:schemeClr val="accent1">
                              <a:lumMod val="50000"/>
                            </a:schemeClr>
                          </a:solidFill>
                        </a:rPr>
                        <a:t>Pizzas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21888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514295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71DACE-785B-21D7-5210-520ACDD1E1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E83C26-90AA-4359-8AAD-9F63BC2010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Simulation des rendements</a:t>
            </a:r>
            <a:endParaRPr lang="fr-FR" sz="1600" u="sng" dirty="0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998D1BA-3F57-5298-5626-B4C58182BE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34065"/>
            <a:ext cx="10515600" cy="5242898"/>
          </a:xfrm>
        </p:spPr>
        <p:txBody>
          <a:bodyPr>
            <a:noAutofit/>
          </a:bodyPr>
          <a:lstStyle/>
          <a:p>
            <a:pPr marL="514350" indent="-514350">
              <a:buAutoNum type="romanUcPeriod" startAt="2"/>
            </a:pPr>
            <a:r>
              <a:rPr lang="fr-FR" sz="2000" u="sng" dirty="0"/>
              <a:t>Déplacement dans le magasin</a:t>
            </a:r>
          </a:p>
          <a:p>
            <a:pPr marL="0" indent="0">
              <a:buNone/>
            </a:pPr>
            <a:endParaRPr lang="fr-FR" sz="2000" dirty="0"/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Possibilité de se déplacer d’une case horizontale ou verticale (pas de déplacement diagonal)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Parcours en largeur pour se déplacer d’une case (</a:t>
            </a:r>
            <a:r>
              <a:rPr lang="fr-FR" sz="1600" dirty="0" err="1"/>
              <a:t>i,j</a:t>
            </a:r>
            <a:r>
              <a:rPr lang="fr-FR" sz="1600" dirty="0"/>
              <a:t>) à une case (</a:t>
            </a:r>
            <a:r>
              <a:rPr lang="fr-FR" sz="1600" dirty="0" err="1"/>
              <a:t>k,l</a:t>
            </a:r>
            <a:r>
              <a:rPr lang="fr-FR" sz="1600" dirty="0"/>
              <a:t>)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Assure d’avoir la plus courte distance entre les deux cases</a:t>
            </a:r>
          </a:p>
          <a:p>
            <a:pPr lvl="2">
              <a:buFont typeface="Courier New" panose="02070309020205020404" pitchFamily="49" charset="0"/>
              <a:buChar char="o"/>
            </a:pPr>
            <a:r>
              <a:rPr lang="fr-FR" sz="1400" dirty="0"/>
              <a:t>Utilise une liste en temps que file</a:t>
            </a:r>
          </a:p>
          <a:p>
            <a:pPr lvl="1">
              <a:buFont typeface="Wingdings" panose="05000000000000000000" pitchFamily="2" charset="2"/>
              <a:buChar char="Ø"/>
            </a:pPr>
            <a:r>
              <a:rPr lang="fr-FR" sz="1600" dirty="0"/>
              <a:t>Récupère une liste d’indice représentant les rayons traversés </a:t>
            </a:r>
          </a:p>
          <a:p>
            <a:pPr marL="457200" lvl="1" indent="0">
              <a:buNone/>
            </a:pPr>
            <a:r>
              <a:rPr lang="fr-FR" sz="1600" dirty="0"/>
              <a:t>	Exemple pour aller de A à B :</a:t>
            </a:r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endParaRPr lang="fr-FR" sz="1600" dirty="0"/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  <a:p>
            <a:pPr marL="457200" lvl="1" indent="0">
              <a:buNone/>
            </a:pPr>
            <a:r>
              <a:rPr lang="fr-FR" sz="1600" dirty="0"/>
              <a:t>	</a:t>
            </a:r>
          </a:p>
        </p:txBody>
      </p:sp>
      <p:graphicFrame>
        <p:nvGraphicFramePr>
          <p:cNvPr id="5" name="Tableau 4">
            <a:extLst>
              <a:ext uri="{FF2B5EF4-FFF2-40B4-BE49-F238E27FC236}">
                <a16:creationId xmlns:a16="http://schemas.microsoft.com/office/drawing/2014/main" id="{ECB35935-6783-536E-78ED-3A0470C2B3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1852644"/>
              </p:ext>
            </p:extLst>
          </p:nvPr>
        </p:nvGraphicFramePr>
        <p:xfrm>
          <a:off x="838199" y="3757659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4FE7217C-299B-4D2F-E14A-059588C2BB04}"/>
              </a:ext>
            </a:extLst>
          </p:cNvPr>
          <p:cNvCxnSpPr>
            <a:cxnSpLocks/>
          </p:cNvCxnSpPr>
          <p:nvPr/>
        </p:nvCxnSpPr>
        <p:spPr>
          <a:xfrm>
            <a:off x="838199" y="3757659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8F0BA6BF-B288-C135-B9B0-762D98F005B0}"/>
              </a:ext>
            </a:extLst>
          </p:cNvPr>
          <p:cNvCxnSpPr>
            <a:cxnSpLocks/>
          </p:cNvCxnSpPr>
          <p:nvPr/>
        </p:nvCxnSpPr>
        <p:spPr>
          <a:xfrm flipH="1">
            <a:off x="838199" y="3757659"/>
            <a:ext cx="544052" cy="54426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au 9">
            <a:extLst>
              <a:ext uri="{FF2B5EF4-FFF2-40B4-BE49-F238E27FC236}">
                <a16:creationId xmlns:a16="http://schemas.microsoft.com/office/drawing/2014/main" id="{F258C067-943D-2FD8-A3EB-F73F5E69C2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6515201"/>
              </p:ext>
            </p:extLst>
          </p:nvPr>
        </p:nvGraphicFramePr>
        <p:xfrm>
          <a:off x="3929623" y="3757659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14" name="Connecteur droit avec flèche 13">
            <a:extLst>
              <a:ext uri="{FF2B5EF4-FFF2-40B4-BE49-F238E27FC236}">
                <a16:creationId xmlns:a16="http://schemas.microsoft.com/office/drawing/2014/main" id="{2A9BB57B-23D7-1D5E-DD6A-AEB434AA4CD7}"/>
              </a:ext>
            </a:extLst>
          </p:cNvPr>
          <p:cNvCxnSpPr/>
          <p:nvPr/>
        </p:nvCxnSpPr>
        <p:spPr>
          <a:xfrm>
            <a:off x="2359742" y="5112773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7C05F9C5-BB20-187D-DA4A-2CFAA014B5D7}"/>
              </a:ext>
            </a:extLst>
          </p:cNvPr>
          <p:cNvCxnSpPr/>
          <p:nvPr/>
        </p:nvCxnSpPr>
        <p:spPr>
          <a:xfrm>
            <a:off x="2202426" y="5279922"/>
            <a:ext cx="0" cy="36000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E3FB0E37-8448-8890-B779-8A3F46C5C38D}"/>
              </a:ext>
            </a:extLst>
          </p:cNvPr>
          <p:cNvCxnSpPr/>
          <p:nvPr/>
        </p:nvCxnSpPr>
        <p:spPr>
          <a:xfrm>
            <a:off x="1680498" y="5112773"/>
            <a:ext cx="3600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67B970D9-C3DF-56F4-84E3-E98797DE0238}"/>
              </a:ext>
            </a:extLst>
          </p:cNvPr>
          <p:cNvCxnSpPr/>
          <p:nvPr/>
        </p:nvCxnSpPr>
        <p:spPr>
          <a:xfrm>
            <a:off x="2207340" y="4586746"/>
            <a:ext cx="0" cy="3600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29" name="Tableau 28">
            <a:extLst>
              <a:ext uri="{FF2B5EF4-FFF2-40B4-BE49-F238E27FC236}">
                <a16:creationId xmlns:a16="http://schemas.microsoft.com/office/drawing/2014/main" id="{57DA132B-3727-1C7F-FCBE-889038953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921238"/>
              </p:ext>
            </p:extLst>
          </p:nvPr>
        </p:nvGraphicFramePr>
        <p:xfrm>
          <a:off x="9347046" y="3757659"/>
          <a:ext cx="2166376" cy="21662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594">
                  <a:extLst>
                    <a:ext uri="{9D8B030D-6E8A-4147-A177-3AD203B41FA5}">
                      <a16:colId xmlns:a16="http://schemas.microsoft.com/office/drawing/2014/main" val="740833308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862075481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1035699876"/>
                    </a:ext>
                  </a:extLst>
                </a:gridCol>
                <a:gridCol w="541594">
                  <a:extLst>
                    <a:ext uri="{9D8B030D-6E8A-4147-A177-3AD203B41FA5}">
                      <a16:colId xmlns:a16="http://schemas.microsoft.com/office/drawing/2014/main" val="2970786683"/>
                    </a:ext>
                  </a:extLst>
                </a:gridCol>
              </a:tblGrid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97262379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7569745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sz="2400" b="1" kern="1200" dirty="0">
                          <a:solidFill>
                            <a:schemeClr val="accent1">
                              <a:lumMod val="50000"/>
                            </a:schemeClr>
                          </a:solidFill>
                          <a:latin typeface="+mn-lt"/>
                          <a:ea typeface="+mn-ea"/>
                          <a:cs typeface="+mn-cs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5644272"/>
                  </a:ext>
                </a:extLst>
              </a:tr>
              <a:tr h="541569"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fr-FR" sz="2400" b="1" kern="1200" dirty="0">
                        <a:solidFill>
                          <a:schemeClr val="accent1">
                            <a:lumMod val="50000"/>
                          </a:schemeClr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5396378"/>
                  </a:ext>
                </a:extLst>
              </a:tr>
            </a:tbl>
          </a:graphicData>
        </a:graphic>
      </p:graphicFrame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ED4E053E-43D3-A3B6-A4D7-2B3CA7F2EF5F}"/>
              </a:ext>
            </a:extLst>
          </p:cNvPr>
          <p:cNvCxnSpPr/>
          <p:nvPr/>
        </p:nvCxnSpPr>
        <p:spPr>
          <a:xfrm>
            <a:off x="5289753" y="4029789"/>
            <a:ext cx="0" cy="36000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5BAD2737-451F-BC9C-6092-4B44BA70F874}"/>
              </a:ext>
            </a:extLst>
          </p:cNvPr>
          <p:cNvCxnSpPr/>
          <p:nvPr/>
        </p:nvCxnSpPr>
        <p:spPr>
          <a:xfrm>
            <a:off x="5451988" y="4581829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4CC2847D-03C1-B0A5-D86C-BF7405E5C544}"/>
              </a:ext>
            </a:extLst>
          </p:cNvPr>
          <p:cNvCxnSpPr/>
          <p:nvPr/>
        </p:nvCxnSpPr>
        <p:spPr>
          <a:xfrm>
            <a:off x="5451988" y="5654667"/>
            <a:ext cx="360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42D30702-820E-47C8-2E6D-93F38E2D5B08}"/>
              </a:ext>
            </a:extLst>
          </p:cNvPr>
          <p:cNvCxnSpPr/>
          <p:nvPr/>
        </p:nvCxnSpPr>
        <p:spPr>
          <a:xfrm>
            <a:off x="4808079" y="5659582"/>
            <a:ext cx="3600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avec flèche 40">
            <a:extLst>
              <a:ext uri="{FF2B5EF4-FFF2-40B4-BE49-F238E27FC236}">
                <a16:creationId xmlns:a16="http://schemas.microsoft.com/office/drawing/2014/main" id="{3820FCA4-813D-7352-8F91-8AF5418FEA31}"/>
              </a:ext>
            </a:extLst>
          </p:cNvPr>
          <p:cNvCxnSpPr/>
          <p:nvPr/>
        </p:nvCxnSpPr>
        <p:spPr>
          <a:xfrm>
            <a:off x="4808079" y="4581829"/>
            <a:ext cx="3600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eur droit avec flèche 41">
            <a:extLst>
              <a:ext uri="{FF2B5EF4-FFF2-40B4-BE49-F238E27FC236}">
                <a16:creationId xmlns:a16="http://schemas.microsoft.com/office/drawing/2014/main" id="{2F9B36ED-81C4-A92E-837E-2FB1B4FECA40}"/>
              </a:ext>
            </a:extLst>
          </p:cNvPr>
          <p:cNvCxnSpPr/>
          <p:nvPr/>
        </p:nvCxnSpPr>
        <p:spPr>
          <a:xfrm>
            <a:off x="4242724" y="5112773"/>
            <a:ext cx="360000" cy="0"/>
          </a:xfrm>
          <a:prstGeom prst="straightConnector1">
            <a:avLst/>
          </a:prstGeom>
          <a:ln>
            <a:headEnd type="triangle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77CA36F5-AB39-1118-DBB1-EFD00B3A3D55}"/>
              </a:ext>
            </a:extLst>
          </p:cNvPr>
          <p:cNvCxnSpPr>
            <a:cxnSpLocks/>
          </p:cNvCxnSpPr>
          <p:nvPr/>
        </p:nvCxnSpPr>
        <p:spPr>
          <a:xfrm flipV="1">
            <a:off x="10697497" y="4019957"/>
            <a:ext cx="0" cy="91695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eur droit avec flèche 46">
            <a:extLst>
              <a:ext uri="{FF2B5EF4-FFF2-40B4-BE49-F238E27FC236}">
                <a16:creationId xmlns:a16="http://schemas.microsoft.com/office/drawing/2014/main" id="{E1624D3F-0C4E-7076-47DA-7141AD0A31CC}"/>
              </a:ext>
            </a:extLst>
          </p:cNvPr>
          <p:cNvCxnSpPr/>
          <p:nvPr/>
        </p:nvCxnSpPr>
        <p:spPr>
          <a:xfrm>
            <a:off x="10697497" y="4019957"/>
            <a:ext cx="403122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Flèche : droite rayée 48">
            <a:extLst>
              <a:ext uri="{FF2B5EF4-FFF2-40B4-BE49-F238E27FC236}">
                <a16:creationId xmlns:a16="http://schemas.microsoft.com/office/drawing/2014/main" id="{6C95EDBB-A6A2-9BCB-179D-4579DAE385AD}"/>
              </a:ext>
            </a:extLst>
          </p:cNvPr>
          <p:cNvSpPr/>
          <p:nvPr/>
        </p:nvSpPr>
        <p:spPr>
          <a:xfrm>
            <a:off x="6787944" y="4309855"/>
            <a:ext cx="1867157" cy="1061883"/>
          </a:xfrm>
          <a:prstGeom prst="striped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12039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DB0B3D-C821-D84B-83D8-0E1912262D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7AE182-5E0C-6F19-0755-DB203E77B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6"/>
            <a:ext cx="8659761" cy="315912"/>
          </a:xfrm>
        </p:spPr>
        <p:txBody>
          <a:bodyPr>
            <a:normAutofit fontScale="90000"/>
          </a:bodyPr>
          <a:lstStyle/>
          <a:p>
            <a:r>
              <a:rPr lang="fr-FR" sz="3600" u="sng" dirty="0"/>
              <a:t>Simulation des rendements</a:t>
            </a:r>
            <a:endParaRPr lang="fr-FR" sz="1600" u="sng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52790EF-1389-3CD2-D887-568463885E8C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934065"/>
                <a:ext cx="10515600" cy="5242898"/>
              </a:xfrm>
            </p:spPr>
            <p:txBody>
              <a:bodyPr>
                <a:noAutofit/>
              </a:bodyPr>
              <a:lstStyle/>
              <a:p>
                <a:pPr marL="514350" indent="-514350">
                  <a:buAutoNum type="romanUcPeriod" startAt="2"/>
                </a:pPr>
                <a:r>
                  <a:rPr lang="fr-FR" sz="2000" u="sng" dirty="0"/>
                  <a:t>Simulation des courses avec une liste de course L</a:t>
                </a:r>
              </a:p>
              <a:p>
                <a:pPr marL="0" indent="0">
                  <a:buNone/>
                </a:pPr>
                <a:endParaRPr lang="fr-FR" sz="20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sz="1600" dirty="0"/>
                  <a:t>Calcul pour chaque produit p de la probabilité de l’acheter selon les produits de L avec la formule :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marL="457200" lvl="1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𝐿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</m:den>
                      </m:f>
                      <m:nary>
                        <m:naryPr>
                          <m:chr m:val="∑"/>
                          <m:supHide m:val="on"/>
                          <m:ctrlPr>
                            <a:rPr lang="fr-FR" sz="200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𝑞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𝜖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𝐿</m:t>
                          </m:r>
                        </m:sub>
                        <m:sup/>
                        <m:e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𝑀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𝑞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 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𝑝</m:t>
                          </m:r>
                          <m:r>
                            <a:rPr lang="fr-FR" sz="20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lang="fr-FR" sz="20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endParaRPr lang="fr-FR" sz="1600" dirty="0"/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sz="1600" dirty="0"/>
                  <a:t>Parcours du magasin pour rejoindre les rayons des produits de L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sz="1600" dirty="0"/>
                  <a:t>Pour chaque rayon traversé et pas encore visité : on ajoute avec la probabilité calculée précédemment les produits du rayon</a:t>
                </a:r>
              </a:p>
              <a:p>
                <a:pPr lvl="1">
                  <a:buFont typeface="Wingdings" panose="05000000000000000000" pitchFamily="2" charset="2"/>
                  <a:buChar char="Ø"/>
                </a:pPr>
                <a:r>
                  <a:rPr lang="fr-FR" sz="1600" dirty="0"/>
                  <a:t>Renvoie le total dépensé</a:t>
                </a:r>
              </a:p>
              <a:p>
                <a:pPr marL="457200" lvl="1" indent="0">
                  <a:buNone/>
                </a:pPr>
                <a:r>
                  <a:rPr lang="fr-FR" sz="1600" dirty="0"/>
                  <a:t>	Exemple :</a:t>
                </a:r>
              </a:p>
              <a:p>
                <a:pPr lvl="3">
                  <a:buFont typeface="Courier New" panose="02070309020205020404" pitchFamily="49" charset="0"/>
                  <a:buChar char="o"/>
                </a:pPr>
                <a:r>
                  <a:rPr lang="fr-FR" sz="1400" dirty="0"/>
                  <a:t>44,9</a:t>
                </a:r>
              </a:p>
              <a:p>
                <a:pPr lvl="3">
                  <a:buFont typeface="Courier New" panose="02070309020205020404" pitchFamily="49" charset="0"/>
                  <a:buChar char="o"/>
                </a:pPr>
                <a:r>
                  <a:rPr lang="fr-FR" sz="1400" dirty="0"/>
                  <a:t>54,5</a:t>
                </a:r>
              </a:p>
              <a:p>
                <a:pPr lvl="3">
                  <a:buFont typeface="Courier New" panose="02070309020205020404" pitchFamily="49" charset="0"/>
                  <a:buChar char="o"/>
                </a:pPr>
                <a:r>
                  <a:rPr lang="fr-FR" sz="1400" dirty="0"/>
                  <a:t>46,5</a:t>
                </a:r>
              </a:p>
            </p:txBody>
          </p:sp>
        </mc:Choice>
        <mc:Fallback>
          <p:sp>
            <p:nvSpPr>
              <p:cNvPr id="3" name="Espace réservé du contenu 2">
                <a:extLst>
                  <a:ext uri="{FF2B5EF4-FFF2-40B4-BE49-F238E27FC236}">
                    <a16:creationId xmlns:a16="http://schemas.microsoft.com/office/drawing/2014/main" id="{952790EF-1389-3CD2-D887-568463885E8C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934065"/>
                <a:ext cx="10515600" cy="5242898"/>
              </a:xfrm>
              <a:blipFill>
                <a:blip r:embed="rId3"/>
                <a:stretch>
                  <a:fillRect l="-638" t="-1279"/>
                </a:stretch>
              </a:blipFill>
            </p:spPr>
            <p:txBody>
              <a:bodyPr/>
              <a:lstStyle/>
              <a:p>
                <a:r>
                  <a:rPr lang="fr-F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2106606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BBD0F1-EDBE-CAEA-A5CB-C9BC297FA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7B2487-CA97-CE11-F7C1-B4925EA76B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4. Comparaison des résultats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839027B-798D-4E8A-0161-136A531F42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2">
              <a:buFont typeface="Wingdings" panose="05000000000000000000" pitchFamily="2" charset="2"/>
              <a:buChar char="Ø"/>
            </a:pPr>
            <a:r>
              <a:rPr lang="fr-FR" sz="1800" dirty="0"/>
              <a:t>Compare les rendements des magasins pour 10 000 listes de course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sz="1800" dirty="0"/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F91477BF-7FBC-EE10-6204-236FD22F4D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078983"/>
              </p:ext>
            </p:extLst>
          </p:nvPr>
        </p:nvGraphicFramePr>
        <p:xfrm>
          <a:off x="2032000" y="2413635"/>
          <a:ext cx="8128000" cy="4079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414056264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006984567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16596709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350565682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Essai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Aléatoire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Proche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Loin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4839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31450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75934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3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99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698696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412266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75748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3840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7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814224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569629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9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100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77280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10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46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54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fr-FR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6DC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02504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248051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5A414-4628-8D5C-B656-AA81B6F6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6E9FA15-780C-590D-6AEB-95E85AE94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Conclusion</a:t>
            </a:r>
          </a:p>
        </p:txBody>
      </p:sp>
      <p:sp>
        <p:nvSpPr>
          <p:cNvPr id="5" name="Espace réservé du contenu 2">
            <a:extLst>
              <a:ext uri="{FF2B5EF4-FFF2-40B4-BE49-F238E27FC236}">
                <a16:creationId xmlns:a16="http://schemas.microsoft.com/office/drawing/2014/main" id="{F9FB8A13-CF73-F47E-1670-58DBA5E47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/>
          <a:lstStyle/>
          <a:p>
            <a:pPr lvl="2">
              <a:buFont typeface="Wingdings" panose="05000000000000000000" pitchFamily="2" charset="2"/>
              <a:buChar char="Ø"/>
            </a:pPr>
            <a:r>
              <a:rPr lang="fr-FR" sz="1800" dirty="0"/>
              <a:t>Le magasin aléatoire semble dans tous les cas rapporter plus</a:t>
            </a:r>
          </a:p>
          <a:p>
            <a:pPr lvl="2">
              <a:buFont typeface="Wingdings" panose="05000000000000000000" pitchFamily="2" charset="2"/>
              <a:buChar char="Ø"/>
            </a:pPr>
            <a:endParaRPr lang="fr-FR" sz="1800" dirty="0"/>
          </a:p>
          <a:p>
            <a:pPr lvl="2">
              <a:buFont typeface="Wingdings" panose="05000000000000000000" pitchFamily="2" charset="2"/>
              <a:buChar char="Ø"/>
            </a:pPr>
            <a:r>
              <a:rPr lang="fr-FR" sz="1800" dirty="0"/>
              <a:t>Explication possible :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sz="1600" dirty="0"/>
              <a:t>Mauvaise modélisation des déplacements</a:t>
            </a:r>
          </a:p>
          <a:p>
            <a:pPr lvl="3">
              <a:buFont typeface="Wingdings" panose="05000000000000000000" pitchFamily="2" charset="2"/>
              <a:buChar char="Ø"/>
            </a:pPr>
            <a:r>
              <a:rPr lang="fr-FR" sz="1600" dirty="0"/>
              <a:t>Les données choisies pour les probabilités ne conviennent pas</a:t>
            </a:r>
          </a:p>
        </p:txBody>
      </p:sp>
    </p:spTree>
    <p:extLst>
      <p:ext uri="{BB962C8B-B14F-4D97-AF65-F5344CB8AC3E}">
        <p14:creationId xmlns:p14="http://schemas.microsoft.com/office/powerpoint/2010/main" val="334095233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8BB02B-EE26-D112-11B7-8BB278CFAF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5" name="Espace réservé du contenu 4">
            <a:extLst>
              <a:ext uri="{FF2B5EF4-FFF2-40B4-BE49-F238E27FC236}">
                <a16:creationId xmlns:a16="http://schemas.microsoft.com/office/drawing/2014/main" id="{6AEDB6EA-DCD0-3575-E74B-367A4F57641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67642" y="1825625"/>
            <a:ext cx="3856716" cy="4351338"/>
          </a:xfrm>
        </p:spPr>
      </p:pic>
    </p:spTree>
    <p:extLst>
      <p:ext uri="{BB962C8B-B14F-4D97-AF65-F5344CB8AC3E}">
        <p14:creationId xmlns:p14="http://schemas.microsoft.com/office/powerpoint/2010/main" val="242324107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26199</TotalTime>
  <Words>894</Words>
  <Application>Microsoft Office PowerPoint</Application>
  <PresentationFormat>Grand écran</PresentationFormat>
  <Paragraphs>454</Paragraphs>
  <Slides>18</Slides>
  <Notes>3</Notes>
  <HiddenSlides>1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Cambria Math</vt:lpstr>
      <vt:lpstr>Courier New</vt:lpstr>
      <vt:lpstr>Wingdings</vt:lpstr>
      <vt:lpstr>Thème Office</vt:lpstr>
      <vt:lpstr>TIPE</vt:lpstr>
      <vt:lpstr>1. Modélisation</vt:lpstr>
      <vt:lpstr>Modélisation</vt:lpstr>
      <vt:lpstr>Modélisation</vt:lpstr>
      <vt:lpstr>Modélisation</vt:lpstr>
      <vt:lpstr>2. Organisation des supermarchés</vt:lpstr>
      <vt:lpstr>Organisation des supermarchés</vt:lpstr>
      <vt:lpstr>Organisation des supermarchés</vt:lpstr>
      <vt:lpstr>Organisation des supermarchés</vt:lpstr>
      <vt:lpstr>Organisation des supermarchés</vt:lpstr>
      <vt:lpstr>Organisation des supermarchés</vt:lpstr>
      <vt:lpstr>Organisation des supermarchés</vt:lpstr>
      <vt:lpstr>3. Simulation des rendements </vt:lpstr>
      <vt:lpstr>Simulation des rendements</vt:lpstr>
      <vt:lpstr>Simulation des rendements</vt:lpstr>
      <vt:lpstr>4. Comparaison des résultats</vt:lpstr>
      <vt:lpstr>Conclusion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Orane BERTOUT</dc:creator>
  <cp:lastModifiedBy>Orane BERTOUT</cp:lastModifiedBy>
  <cp:revision>3</cp:revision>
  <dcterms:created xsi:type="dcterms:W3CDTF">2025-05-14T14:57:56Z</dcterms:created>
  <dcterms:modified xsi:type="dcterms:W3CDTF">2025-06-02T06:03:06Z</dcterms:modified>
</cp:coreProperties>
</file>